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C4A3197-D648-405C-8EB5-13E0D941D6A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028FD0-A3A3-4CE2-9746-DAE398753F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DC3A8A-6D3F-41F9-AEE1-966EE63E3D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976D20-D814-461A-9A30-817981DEFC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4EA223-E233-4F91-810D-59D1114410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852D04-AF94-4EE7-B575-FDE034A1B7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76192D-B65E-4C28-B6CD-0D29C08903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49553B-6979-4704-8D03-D7E054BA4B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A60956-D799-4363-B9BB-381B72AC9D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C2B969-1062-4BD0-AFE3-71B4B68CDF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A96B90-BB14-417D-80B9-3238D80977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_SLIDE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1e2d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0" y="4783320"/>
            <a:ext cx="9143640" cy="359640"/>
          </a:xfrm>
          <a:prstGeom prst="rect">
            <a:avLst/>
          </a:prstGeom>
          <a:solidFill>
            <a:srgbClr val="1e2d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Shape 2"/>
          <p:cNvSpPr/>
          <p:nvPr/>
        </p:nvSpPr>
        <p:spPr>
          <a:xfrm>
            <a:off x="0" y="4783320"/>
            <a:ext cx="1371240" cy="359640"/>
          </a:xfrm>
          <a:prstGeom prst="rect">
            <a:avLst/>
          </a:prstGeom>
          <a:solidFill>
            <a:srgbClr val="e85d0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Text 3"/>
          <p:cNvSpPr/>
          <p:nvPr/>
        </p:nvSpPr>
        <p:spPr>
          <a:xfrm>
            <a:off x="1463040" y="483480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SGFF - Système de Gestion des Formations des Formateurs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sldNum" idx="1"/>
          </p:nvPr>
        </p:nvSpPr>
        <p:spPr>
          <a:xfrm>
            <a:off x="8686800" y="48348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3D1FC4A-A5A4-4717-96B2-564199D4CC2C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 flipH="1">
            <a:off x="4571280" y="0"/>
            <a:ext cx="4571640" cy="5143320"/>
          </a:xfrm>
          <a:prstGeom prst="rtTriangle">
            <a:avLst/>
          </a:prstGeom>
          <a:solidFill>
            <a:srgbClr val="1a264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457200" y="201168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SGFF</a:t>
            </a:r>
            <a:endParaRPr lang="en-US" sz="7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457200" y="2926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e85d04"/>
                </a:solidFill>
                <a:effectLst/>
                <a:uFillTx/>
                <a:latin typeface="Calibri"/>
                <a:ea typeface="Calibri"/>
              </a:rPr>
              <a:t>Système de Gestion des Formations des Formateurs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457200" y="38404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Projets De Synthèse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457200" y="42976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Calibri"/>
              </a:rPr>
              <a:t>Réalisé par : Mohamed Jalim, Ikram Ghousmi, Habiba Elhomiti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457200" y="457200"/>
            <a:ext cx="1371600" cy="1371600"/>
          </a:xfrm>
          <a:prstGeom prst="ellipse">
            <a:avLst/>
          </a:prstGeom>
          <a:blipFill rotWithShape="0">
            <a:blip r:embed="rId1"/>
            <a:srcRect/>
            <a:stretch>
              <a:fillRect/>
            </a:stretch>
          </a:blip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457200" y="36576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1e2d5a"/>
                </a:solidFill>
                <a:effectLst/>
                <a:uFillTx/>
                <a:latin typeface="Cambria"/>
                <a:ea typeface="Cambria"/>
              </a:rPr>
              <a:t>Plan de la Présentation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" name="Table 0"/>
          <p:cNvGraphicFramePr/>
          <p:nvPr/>
        </p:nvGraphicFramePr>
        <p:xfrm>
          <a:off x="914400" y="1371600"/>
          <a:ext cx="7131960" cy="3291840"/>
        </p:xfrm>
        <a:graphic>
          <a:graphicData uri="http://schemas.openxmlformats.org/drawingml/2006/table">
            <a:tbl>
              <a:tblPr/>
              <a:tblGrid>
                <a:gridCol w="731520"/>
                <a:gridCol w="6400800"/>
              </a:tblGrid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400" b="1" u="none" strike="noStrike">
                          <a:solidFill>
                            <a:srgbClr val="e85d04"/>
                          </a:solidFill>
                          <a:effectLst/>
                          <a:uFillTx/>
                          <a:latin typeface="Calibri"/>
                        </a:rPr>
                        <a:t>01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0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Contexte &amp; Problématique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400" b="1" u="none" strike="noStrike">
                          <a:solidFill>
                            <a:srgbClr val="e85d04"/>
                          </a:solidFill>
                          <a:effectLst/>
                          <a:uFillTx/>
                          <a:latin typeface="Calibri"/>
                        </a:rPr>
                        <a:t>02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0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Objectifs du Projet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400" b="1" u="none" strike="noStrike">
                          <a:solidFill>
                            <a:srgbClr val="e85d04"/>
                          </a:solidFill>
                          <a:effectLst/>
                          <a:uFillTx/>
                          <a:latin typeface="Calibri"/>
                        </a:rPr>
                        <a:t>03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0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Architecture &amp; Technologies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400" b="1" u="none" strike="noStrike">
                          <a:solidFill>
                            <a:srgbClr val="e85d04"/>
                          </a:solidFill>
                          <a:effectLst/>
                          <a:uFillTx/>
                          <a:latin typeface="Calibri"/>
                        </a:rPr>
                        <a:t>04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0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Workflow de Validation (RBAC)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400" b="1" u="none" strike="noStrike">
                          <a:solidFill>
                            <a:srgbClr val="e85d04"/>
                          </a:solidFill>
                          <a:effectLst/>
                          <a:uFillTx/>
                          <a:latin typeface="Calibri"/>
                        </a:rPr>
                        <a:t>05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0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Démonstration des Interfaces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400" b="1" u="none" strike="noStrike">
                          <a:solidFill>
                            <a:srgbClr val="e85d04"/>
                          </a:solidFill>
                          <a:effectLst/>
                          <a:uFillTx/>
                          <a:latin typeface="Calibri"/>
                        </a:rPr>
                        <a:t>06</a:t>
                      </a:r>
                      <a:endParaRPr lang="en-US" sz="2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0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Conclusion &amp; Perspectives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90C2A7E-D042-4DDB-814D-710351E3B024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457200" y="36576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1e2d5a"/>
                </a:solidFill>
                <a:effectLst/>
                <a:uFillTx/>
                <a:latin typeface="Cambria"/>
                <a:ea typeface="Cambria"/>
              </a:rPr>
              <a:t>1. Contexte &amp; Problématique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" name="Table 0"/>
          <p:cNvGraphicFramePr/>
          <p:nvPr/>
        </p:nvGraphicFramePr>
        <p:xfrm>
          <a:off x="457200" y="1371600"/>
          <a:ext cx="8229240" cy="237708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548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200" b="1" u="none" strike="noStrike">
                          <a:solidFill>
                            <a:srgbClr val="e85d04"/>
                          </a:solidFill>
                          <a:effectLst/>
                          <a:uFillTx/>
                          <a:latin typeface="Calibri"/>
                        </a:rPr>
                        <a:t>Situation Actuelle</a:t>
                      </a:r>
                      <a:endParaRPr lang="en-US" sz="2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Gestion manuelle et dispersée des plans de formation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Lenteur dans le circuit d'approbation entre les CDC et la DR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Risque d'erreurs dans la planification et l'affectation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Manque de visibilité globale sur les indicateurs de performance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8" name="Shape 1"/>
          <p:cNvSpPr/>
          <p:nvPr/>
        </p:nvSpPr>
        <p:spPr>
          <a:xfrm>
            <a:off x="457200" y="3886200"/>
            <a:ext cx="8229240" cy="731160"/>
          </a:xfrm>
          <a:prstGeom prst="roundRect">
            <a:avLst>
              <a:gd name="adj" fmla="val 12500"/>
            </a:avLst>
          </a:prstGeom>
          <a:solidFill>
            <a:srgbClr val="1e2d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"/>
          <p:cNvSpPr/>
          <p:nvPr/>
        </p:nvSpPr>
        <p:spPr>
          <a:xfrm>
            <a:off x="457200" y="3657600"/>
            <a:ext cx="822924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Notre Solution : Une plateforme centralisée, sécurisée et intelligente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sldNum" idx="6"/>
          </p:nvPr>
        </p:nvSpPr>
        <p:spPr>
          <a:xfrm>
            <a:off x="8686800" y="48348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768DDFC-8EAD-428D-B9E8-A396A31E9B63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457200" y="36576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1e2d5a"/>
                </a:solidFill>
                <a:effectLst/>
                <a:uFillTx/>
                <a:latin typeface="Cambria"/>
                <a:ea typeface="Cambria"/>
              </a:rPr>
              <a:t>2. Architecture &amp; Technologies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" name="Table 0"/>
          <p:cNvGraphicFramePr/>
          <p:nvPr/>
        </p:nvGraphicFramePr>
        <p:xfrm>
          <a:off x="182880" y="1371600"/>
          <a:ext cx="8777880" cy="301752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286000"/>
                <a:gridCol w="2194560"/>
              </a:tblGrid>
              <a:tr h="7315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FRONTEND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(Interface Utilisateur)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API REST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(Communication)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BACKEND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(Logique Métier)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DONNÉES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(Stockage)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059669"/>
                    </a:solidFill>
                  </a:tcPr>
                </a:tc>
              </a:tr>
              <a:tr h="2286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React 18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TypeScript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Tailwind CSS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Shadcn/ui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React Query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</a:rPr>
                        <a:t>➔ Requêtes HTTP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</a:rPr>
                        <a:t>➔ JSON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</a:rPr>
                        <a:t>➔ Authentification Sanctum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Laravel 11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PHP 8.2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Eloquent ORM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FormRequests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API Resources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MySQL 8.0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Migrations cohérentes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Clés étrangères strictes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PlaceHolder 1"/>
          <p:cNvSpPr>
            <a:spLocks noGrp="1"/>
          </p:cNvSpPr>
          <p:nvPr>
            <p:ph type="sldNum" idx="7"/>
          </p:nvPr>
        </p:nvSpPr>
        <p:spPr>
          <a:xfrm>
            <a:off x="8686800" y="48348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5CBC69E-6E3F-454F-B14F-7941629FA7DE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457200" y="36576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1e2d5a"/>
                </a:solidFill>
                <a:effectLst/>
                <a:uFillTx/>
                <a:latin typeface="Cambria"/>
                <a:ea typeface="Cambria"/>
              </a:rPr>
              <a:t>3. Workflow de Validation Unique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457200" y="10972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Nous avons unifié la gestion de l'état pour garantir une source unique de vérité.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" name="Table 0"/>
          <p:cNvGraphicFramePr/>
          <p:nvPr/>
        </p:nvGraphicFramePr>
        <p:xfrm>
          <a:off x="457200" y="2011680"/>
          <a:ext cx="8229240" cy="731520"/>
        </p:xfrm>
        <a:graphic>
          <a:graphicData uri="http://schemas.openxmlformats.org/drawingml/2006/table">
            <a:tbl>
              <a:tblPr/>
              <a:tblGrid>
                <a:gridCol w="1645920"/>
                <a:gridCol w="548640"/>
                <a:gridCol w="1645920"/>
                <a:gridCol w="548640"/>
                <a:gridCol w="1645920"/>
                <a:gridCol w="548640"/>
                <a:gridCol w="1645920"/>
              </a:tblGrid>
              <a:tr h="73152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475569"/>
                          </a:solidFill>
                          <a:effectLst/>
                          <a:uFillTx/>
                          <a:latin typeface="Calibri"/>
                        </a:rPr>
                        <a:t>1. Brouillon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</a:rPr>
                        <a:t>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d97706"/>
                          </a:solidFill>
                          <a:effectLst/>
                          <a:uFillTx/>
                          <a:latin typeface="Calibri"/>
                        </a:rPr>
                        <a:t>2. En Attente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</a:rPr>
                        <a:t>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2563eb"/>
                          </a:solidFill>
                          <a:effectLst/>
                          <a:uFillTx/>
                          <a:latin typeface="Calibri"/>
                        </a:rPr>
                        <a:t>3. Approuvé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64748b"/>
                          </a:solidFill>
                          <a:effectLst/>
                          <a:uFillTx/>
                          <a:latin typeface="Calibri"/>
                        </a:rPr>
                        <a:t>➔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059669"/>
                          </a:solidFill>
                          <a:effectLst/>
                          <a:uFillTx/>
                          <a:latin typeface="Calibri"/>
                        </a:rPr>
                        <a:t>4. Terminé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37" name="Shape 2"/>
          <p:cNvSpPr/>
          <p:nvPr/>
        </p:nvSpPr>
        <p:spPr>
          <a:xfrm>
            <a:off x="3657600" y="2926080"/>
            <a:ext cx="365400" cy="548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" name="Table 1"/>
          <p:cNvGraphicFramePr/>
          <p:nvPr/>
        </p:nvGraphicFramePr>
        <p:xfrm>
          <a:off x="2834640" y="3566160"/>
          <a:ext cx="2011320" cy="731520"/>
        </p:xfrm>
        <a:graphic>
          <a:graphicData uri="http://schemas.openxmlformats.org/drawingml/2006/table">
            <a:tbl>
              <a:tblPr/>
              <a:tblGrid>
                <a:gridCol w="2011680"/>
              </a:tblGrid>
              <a:tr h="7315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</a:rPr>
                        <a:t>Rejeté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</a:rPr>
                        <a:t>(Nécessite des modifications)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39" name="PlaceHolder 1"/>
          <p:cNvSpPr>
            <a:spLocks noGrp="1"/>
          </p:cNvSpPr>
          <p:nvPr>
            <p:ph type="sldNum" idx="8"/>
          </p:nvPr>
        </p:nvSpPr>
        <p:spPr>
          <a:xfrm>
            <a:off x="8686800" y="48348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DB5D07E-5F1F-44B8-9369-7A21FF1EDDAA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457200" y="36576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1e2d5a"/>
                </a:solidFill>
                <a:effectLst/>
                <a:uFillTx/>
                <a:latin typeface="Cambria"/>
                <a:ea typeface="Cambria"/>
              </a:rPr>
              <a:t>4. Interfaces Modernes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914400" y="1371600"/>
            <a:ext cx="73148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Insérez ici la capture d'écran du Tableau de Bord (Dashboard)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sldNum" idx="9"/>
          </p:nvPr>
        </p:nvSpPr>
        <p:spPr>
          <a:xfrm>
            <a:off x="8686800" y="48348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59D2A34-1C10-4950-8B34-C9509A900986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" name=""/>
          <p:cNvPicPr/>
          <p:nvPr/>
        </p:nvPicPr>
        <p:blipFill>
          <a:blip r:embed="rId1"/>
        </p:blipFill>
        <p:spPr>
          <a:xfrm rot="21598800">
            <a:off x="914760" y="1116720"/>
            <a:ext cx="7085880" cy="3453840"/>
          </a:xfrm>
          <a:prstGeom prst="rect">
            <a:avLst/>
          </a:prstGeom>
          <a:pattFill prst="wdUpDiag">
            <a:fgClr>
              <a:srgbClr val="00a933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36576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1e2d5a"/>
                </a:solidFill>
                <a:effectLst/>
                <a:uFillTx/>
                <a:latin typeface="Cambria"/>
                <a:ea typeface="Cambria"/>
              </a:rPr>
              <a:t>5. Formulaire Intelligent (Wizard)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914400" y="1371600"/>
            <a:ext cx="73148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sldNum" idx="10"/>
          </p:nvPr>
        </p:nvSpPr>
        <p:spPr>
          <a:xfrm>
            <a:off x="8686800" y="48348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AFD1AB4-1731-468B-8C1F-C18AD9784259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" name=""/>
          <p:cNvPicPr/>
          <p:nvPr/>
        </p:nvPicPr>
        <p:blipFill>
          <a:blip r:embed="rId1"/>
        </p:blipFill>
        <p:spPr>
          <a:xfrm>
            <a:off x="917640" y="1096920"/>
            <a:ext cx="7083360" cy="3452760"/>
          </a:xfrm>
          <a:prstGeom prst="rect">
            <a:avLst/>
          </a:prstGeom>
          <a:pattFill prst="wdUpDiag">
            <a:fgClr>
              <a:srgbClr val="00a933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457200" y="36576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1e2d5a"/>
                </a:solidFill>
                <a:effectLst/>
                <a:uFillTx/>
                <a:latin typeface="Cambria"/>
                <a:ea typeface="Cambria"/>
              </a:rPr>
              <a:t>6. Suivi des Détails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914400" y="1371600"/>
            <a:ext cx="73148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sldNum" idx="11"/>
          </p:nvPr>
        </p:nvSpPr>
        <p:spPr>
          <a:xfrm>
            <a:off x="8686800" y="48348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CBD1D9A-EF89-4657-8CCA-CE8C9E81B83F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" name=""/>
          <p:cNvPicPr/>
          <p:nvPr/>
        </p:nvPicPr>
        <p:blipFill>
          <a:blip r:embed="rId1"/>
        </p:blipFill>
        <p:spPr>
          <a:xfrm>
            <a:off x="1028160" y="1143000"/>
            <a:ext cx="6972840" cy="3399120"/>
          </a:xfrm>
          <a:prstGeom prst="rect">
            <a:avLst/>
          </a:prstGeom>
          <a:pattFill prst="wdUpDiag">
            <a:fgClr>
              <a:srgbClr val="00a933"/>
            </a:fgClr>
            <a:bgClr>
              <a:srgbClr val="ffffff">
                <a:alpha val="0"/>
              </a:srgbClr>
            </a:bgClr>
          </a:pattFill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457200" y="36576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1e2d5a"/>
                </a:solidFill>
                <a:effectLst/>
                <a:uFillTx/>
                <a:latin typeface="Cambria"/>
                <a:ea typeface="Cambria"/>
              </a:rPr>
              <a:t>7. Conclusion &amp; Perspectives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3" name="Table 0"/>
          <p:cNvGraphicFramePr/>
          <p:nvPr/>
        </p:nvGraphicFramePr>
        <p:xfrm>
          <a:off x="457200" y="1371600"/>
          <a:ext cx="8229240" cy="28346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000" b="1" u="none" strike="noStrik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</a:rPr>
                        <a:t>Bilan des Réalisations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2000" b="1" u="none" strike="noStrike">
                          <a:solidFill>
                            <a:srgbClr val="e85d04"/>
                          </a:solidFill>
                          <a:effectLst/>
                          <a:uFillTx/>
                          <a:latin typeface="Calibri"/>
                        </a:rPr>
                        <a:t>Perspectives d'Évolution</a:t>
                      </a:r>
                      <a:endParaRPr lang="en-US" sz="2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2286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✓ Centralisation des données de formation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✓ Automatisation du workflow d'approbation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✓ Interface utilisateur ultra-réactive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✓ Sécurité et intégrité des données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Intégration d'un système de notifications push/email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Export avancé des bilans de formation en PDF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</a:rPr>
                        <a:t>• Tableaux de bord analytiques complexes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4" name="PlaceHolder 1"/>
          <p:cNvSpPr>
            <a:spLocks noGrp="1"/>
          </p:cNvSpPr>
          <p:nvPr>
            <p:ph type="sldNum" idx="12"/>
          </p:nvPr>
        </p:nvSpPr>
        <p:spPr>
          <a:xfrm>
            <a:off x="8686800" y="483480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6F3768-E05D-4CAD-9FBD-21E77F73119C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457200" y="201168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Merci pour votre attention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457200" y="2926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e85d04"/>
                </a:solidFill>
                <a:effectLst/>
                <a:uFillTx/>
                <a:latin typeface="Calibri"/>
                <a:ea typeface="Calibri"/>
              </a:rPr>
              <a:t>Avez-vous des questions ?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LibreOffice/25.8.6.2$Linux_X86_64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2026-05-13T21:00:06Z</dcterms:created>
  <dc:creator>Équipe SGFF</dc:creator>
  <dc:description/>
  <dc:language>en-US</dc:language>
  <cp:lastModifiedBy/>
  <dcterms:modified xsi:type="dcterms:W3CDTF">2026-05-13T22:48:49Z</dcterms:modified>
  <cp:revision>2</cp:revision>
  <dc:subject>PptxGenJS Presentation</dc:subject>
  <dc:title>Soutenance SGFF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